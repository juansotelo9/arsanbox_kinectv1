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3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CO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E09C97-21C0-4A02-9F52-D21430F7CFB1}" type="slidenum"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‹Nº›</a:t>
            </a:fld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2E5370-31F4-4AFF-BE44-D2FB6618E4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5BDAD5-F08A-44DE-9FC7-3CD1882C02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19C1E7-7F4C-4296-9130-0ECBA67EC52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5A485F-2F8A-46FE-91A7-B4537C54D3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33FBEE-F71A-4501-BE22-4B3FCB9FC0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651E1-A884-43A6-86B7-EEADDCBECC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966A23-55C2-48D6-9C59-F38C08995D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17E1C4-3F42-4BEA-8B8C-17AD4718DD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8AA7FA-038C-4088-B7CF-C184D204A5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dafsanchezg@udistrital.edu.co" TargetMode="External"/><Relationship Id="rId3" Type="http://schemas.openxmlformats.org/officeDocument/2006/relationships/hyperlink" Target="https://www.microsoft.com/en-us/download/details.aspx?id=40278" TargetMode="External"/><Relationship Id="rId7" Type="http://schemas.openxmlformats.org/officeDocument/2006/relationships/hyperlink" Target="https://opencv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shimat/opencvsharp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docs.unity3d.com/" TargetMode="External"/><Relationship Id="rId10" Type="http://schemas.openxmlformats.org/officeDocument/2006/relationships/hyperlink" Target="https://github.com/JuanSotelo9/ARSanbox_KinectV1.git" TargetMode="External"/><Relationship Id="rId4" Type="http://schemas.openxmlformats.org/officeDocument/2006/relationships/hyperlink" Target="https://learn.microsoft.com/en-us/dotnet/desktop/wpf/" TargetMode="External"/><Relationship Id="rId9" Type="http://schemas.openxmlformats.org/officeDocument/2006/relationships/hyperlink" Target="mailto:jpsotelor@udistrital.edu.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109692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Proyecto AR - Sandbox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21488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tabLst>
                <a:tab pos="0" algn="l"/>
              </a:tabLst>
            </a:pPr>
            <a:r>
              <a:rPr lang="es-MX" sz="1800" b="0" u="none" strike="noStrike" dirty="0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r>
              <a:rPr lang="es-CO" dirty="0" err="1">
                <a:solidFill>
                  <a:srgbClr val="FFFFFF"/>
                </a:solidFill>
                <a:latin typeface="Arial"/>
              </a:rPr>
              <a:t>xploración</a:t>
            </a:r>
            <a:r>
              <a:rPr lang="es-CO" dirty="0">
                <a:solidFill>
                  <a:srgbClr val="FFFFFF"/>
                </a:solidFill>
                <a:latin typeface="Arial"/>
              </a:rPr>
              <a:t> de técnicas de interacción entre entornos físicos y virtuales utilizando una </a:t>
            </a:r>
            <a:r>
              <a:rPr lang="es-CO" dirty="0" err="1">
                <a:solidFill>
                  <a:srgbClr val="FFFFFF"/>
                </a:solidFill>
                <a:latin typeface="Arial"/>
              </a:rPr>
              <a:t>ARSandbox</a:t>
            </a:r>
            <a:r>
              <a:rPr lang="es-CO" dirty="0">
                <a:solidFill>
                  <a:srgbClr val="FFFFFF"/>
                </a:solidFill>
                <a:latin typeface="Arial"/>
              </a:rPr>
              <a:t> basada en Kinect v1.</a:t>
            </a:r>
          </a:p>
        </p:txBody>
      </p:sp>
      <p:sp>
        <p:nvSpPr>
          <p:cNvPr id="12" name="Text 2"/>
          <p:cNvSpPr/>
          <p:nvPr/>
        </p:nvSpPr>
        <p:spPr>
          <a:xfrm>
            <a:off x="457200" y="3200400"/>
            <a:ext cx="82292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MX" dirty="0">
                <a:solidFill>
                  <a:srgbClr val="FFFFFF"/>
                </a:solidFill>
                <a:latin typeface="Calibri"/>
              </a:rPr>
              <a:t>Daniel Felipe </a:t>
            </a:r>
            <a:r>
              <a:rPr lang="es-MX" dirty="0" err="1">
                <a:solidFill>
                  <a:srgbClr val="FFFFFF"/>
                </a:solidFill>
                <a:latin typeface="Calibri"/>
              </a:rPr>
              <a:t>Sanchez</a:t>
            </a:r>
            <a:r>
              <a:rPr lang="es-MX" dirty="0">
                <a:solidFill>
                  <a:srgbClr val="FFFFFF"/>
                </a:solidFill>
                <a:latin typeface="Calibri"/>
              </a:rPr>
              <a:t> </a:t>
            </a:r>
            <a:r>
              <a:rPr lang="es-MX" dirty="0" err="1">
                <a:solidFill>
                  <a:srgbClr val="FFFFFF"/>
                </a:solidFill>
                <a:latin typeface="Calibri"/>
              </a:rPr>
              <a:t>Garcia</a:t>
            </a:r>
            <a:endParaRPr lang="es-MX" dirty="0">
              <a:solidFill>
                <a:srgbClr val="FFFFFF"/>
              </a:solidFill>
              <a:latin typeface="Calibri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MX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Juan Pablo Sotelo Rativa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s-MX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Paulo Alonso Gaona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Grupo de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Investigación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Multimedia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Interactiva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Universidad </a:t>
            </a: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Distrital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Francisco José de Caldas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Facultad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 de Ingeniería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62179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 dirty="0">
                <a:solidFill>
                  <a:srgbClr val="F8F9FA"/>
                </a:solidFill>
                <a:effectLst/>
                <a:uFillTx/>
                <a:latin typeface="Calibri"/>
              </a:rPr>
              <a:t>2026</a:t>
            </a:r>
            <a:endParaRPr lang="es-CO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 err="1">
                <a:solidFill>
                  <a:srgbClr val="E74C3C"/>
                </a:solidFill>
                <a:effectLst/>
                <a:uFillTx/>
                <a:latin typeface="Calibri"/>
              </a:rPr>
              <a:t>Resumen</a:t>
            </a: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 / Abstract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640080" y="1325880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s-CO" sz="1600" dirty="0"/>
              <a:t>Este proyecto se centró en el desarrollo de una plataforma basada en una </a:t>
            </a:r>
            <a:r>
              <a:rPr lang="es-CO" sz="1600" dirty="0" err="1"/>
              <a:t>ARSandbox</a:t>
            </a:r>
            <a:r>
              <a:rPr lang="es-CO" sz="1600" dirty="0"/>
              <a:t>, un sensor Kinect </a:t>
            </a:r>
            <a:r>
              <a:rPr lang="es-CO" sz="1600" dirty="0" err="1"/>
              <a:t>for</a:t>
            </a:r>
            <a:r>
              <a:rPr lang="es-CO" sz="1600" dirty="0"/>
              <a:t> Windows v1 y Unity, con el objetivo de reconstruir en tiempo real un terreno virtual a partir de la manipulación de arena física. Para ello se desarrolló una aplicación en WPF encargada de capturar y procesar los datos de profundidad del Kinect, permitiendo su integración con Unity para generar una malla tridimensional dinámica. Además, se incorporaron objetos virtuales interactivos que reaccionan a las modificaciones del terreno. Durante el desarrollo se exploraron alternativas para la detección de manos y reconocimiento de gestos, identificando limitaciones asociadas al hardware utilizado.</a:t>
            </a:r>
          </a:p>
        </p:txBody>
      </p:sp>
      <p:sp>
        <p:nvSpPr>
          <p:cNvPr id="18" name="Shape 4"/>
          <p:cNvSpPr/>
          <p:nvPr/>
        </p:nvSpPr>
        <p:spPr>
          <a:xfrm>
            <a:off x="457200" y="3321424"/>
            <a:ext cx="8229240" cy="3415552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731520" y="4065226"/>
            <a:ext cx="768060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RESUMEN EJECUTIVO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s-CO" sz="1600" dirty="0"/>
              <a:t>El proyecto permitió implementar exitosamente la captura de datos de profundidad mediante Kinect v1, la reconstrucción de un terreno virtual en Unity y la interacción de objetos físicos simulados sobre una superficie dinámica. Inicialmente la comunicación entre aplicaciones se realizó mediante UDP, pero debido a problemas de latencia se migró a un sistema de memoria compartida, obteniendo una mejora significativa en el rendimiento. Aunque se exploraron diversas estrategias para el reconocimiento de manos y gestos, las limitaciones del Kinect v1 impidieron alcanzar una solución robusta. Como resultado, se obtuvo una plataforma funcional para la interacción entre entornos físicos y virtuales, además de una base tecnológica para futuras investigaciones en realidad aumentada e interfaces naturales de usuario.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Introducción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09728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PROBLEMA Y CONTEXTO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457200" y="1554480"/>
            <a:ext cx="3079376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s-CO" dirty="0"/>
              <a:t>Integrar una </a:t>
            </a:r>
            <a:r>
              <a:rPr lang="es-CO" dirty="0" err="1"/>
              <a:t>ARSandbox</a:t>
            </a:r>
            <a:r>
              <a:rPr lang="es-CO" dirty="0"/>
              <a:t> con Unity para controlar elementos virtuales mediante datos de profundidad capturados por Kinect v1, enfrentando limitaciones de compatibilidad y rendimiento.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754880" y="1097280"/>
            <a:ext cx="3931560" cy="2468520"/>
          </a:xfrm>
          <a:prstGeom prst="rect">
            <a:avLst/>
          </a:prstGeom>
          <a:solidFill>
            <a:srgbClr val="F8F9FA"/>
          </a:solidFill>
          <a:ln w="12700">
            <a:solidFill>
              <a:srgbClr val="F39C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457200" y="3840480"/>
            <a:ext cx="8229240" cy="4536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7"/>
          <p:cNvSpPr/>
          <p:nvPr/>
        </p:nvSpPr>
        <p:spPr>
          <a:xfrm>
            <a:off x="457200" y="40233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RELEVANCIA DEL ESTUDIO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8"/>
          <p:cNvSpPr/>
          <p:nvPr/>
        </p:nvSpPr>
        <p:spPr>
          <a:xfrm>
            <a:off x="457200" y="4389120"/>
            <a:ext cx="8229240" cy="19041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Explora formas de interacción natural entre entornos físicos y virtuales.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Permite aprovechar hardware de bajo costo para aplicaciones de realidad aumentada.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Proporciona una base para el desarrollo de herramientas educativas y de simulación interactiva.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Identifica limitaciones y oportunidades de mejora para futuras investigaciones en reconocimiento gestual e interfaces naturales.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A6855E-1998-D70B-3E25-18534C29A0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27" t="16754" r="8627"/>
          <a:stretch>
            <a:fillRect/>
          </a:stretch>
        </p:blipFill>
        <p:spPr>
          <a:xfrm>
            <a:off x="3913093" y="790560"/>
            <a:ext cx="4961965" cy="288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Objetivos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2"/>
          <p:cNvSpPr/>
          <p:nvPr/>
        </p:nvSpPr>
        <p:spPr>
          <a:xfrm>
            <a:off x="457200" y="1097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OBJETIVO GENERAL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3"/>
          <p:cNvSpPr/>
          <p:nvPr/>
        </p:nvSpPr>
        <p:spPr>
          <a:xfrm>
            <a:off x="457200" y="1463040"/>
            <a:ext cx="8229240" cy="73116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4"/>
          <p:cNvSpPr/>
          <p:nvPr/>
        </p:nvSpPr>
        <p:spPr>
          <a:xfrm>
            <a:off x="640080" y="182862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s-CO" sz="1600" dirty="0"/>
              <a:t>Desarrollar un prototipo de interacción para una </a:t>
            </a:r>
            <a:r>
              <a:rPr lang="es-CO" sz="1600" dirty="0" err="1"/>
              <a:t>ARSandbox</a:t>
            </a:r>
            <a:r>
              <a:rPr lang="es-CO" sz="1600" dirty="0"/>
              <a:t> basado en Kinect v1 y Unity, utilizando la información de profundidad para la reconstrucción del terreno y explorando mecanismos de interacción mediante objetos virtuales y reconocimiento de gestos. </a:t>
            </a:r>
            <a:endParaRPr lang="es-CO" sz="1600" b="0" dirty="0">
              <a:effectLst/>
            </a:endParaRPr>
          </a:p>
          <a:p>
            <a:br>
              <a:rPr lang="es-CO" dirty="0"/>
            </a:b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5"/>
          <p:cNvSpPr/>
          <p:nvPr/>
        </p:nvSpPr>
        <p:spPr>
          <a:xfrm>
            <a:off x="457200" y="24688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OBJETIVOS ESPECÍFICOS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6"/>
          <p:cNvSpPr/>
          <p:nvPr/>
        </p:nvSpPr>
        <p:spPr>
          <a:xfrm>
            <a:off x="731520" y="3329492"/>
            <a:ext cx="77720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fontAlgn="base"/>
            <a:r>
              <a:rPr lang="es-CO" sz="1600" dirty="0"/>
              <a:t>1. Capturar y procesar los datos de profundidad obtenidos mediante un sensor Kinect </a:t>
            </a:r>
            <a:r>
              <a:rPr lang="es-CO" sz="1600" dirty="0" err="1"/>
              <a:t>for</a:t>
            </a:r>
            <a:r>
              <a:rPr lang="es-CO" sz="1600" dirty="0"/>
              <a:t> Windows v1 utilizando una aplicación desarrollada en WPF. </a:t>
            </a:r>
          </a:p>
          <a:p>
            <a:pPr fontAlgn="base"/>
            <a:r>
              <a:rPr lang="es-CO" sz="1600" dirty="0"/>
              <a:t>2. Generar una representación tridimensional del terreno a partir de la información de profundidad y transmitirla a Unity para su visualización en tiempo real. </a:t>
            </a:r>
          </a:p>
          <a:p>
            <a:pPr fontAlgn="base"/>
            <a:r>
              <a:rPr lang="es-CO" sz="1600" dirty="0"/>
              <a:t>3. Implementar mecanismos de comunicación entre la aplicación de captura y Unity para la transferencia de los datos del terreno. </a:t>
            </a:r>
          </a:p>
          <a:p>
            <a:pPr fontAlgn="base"/>
            <a:r>
              <a:rPr lang="es-CO" sz="1600" dirty="0"/>
              <a:t>4. Integrar objetos virtuales en el entorno de Unity que interactúen con la superficie reconstruida mediante el motor físico. </a:t>
            </a:r>
          </a:p>
          <a:p>
            <a:pPr fontAlgn="base"/>
            <a:r>
              <a:rPr lang="es-CO" sz="1600" dirty="0"/>
              <a:t>5. Explorar alternativas para la detección de manos y el reconocimiento de gestos utilizando la información proporcionada por el sensor Kinect y herramientas complementarias de visión por computador. 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Metodología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"/>
          <p:cNvSpPr/>
          <p:nvPr/>
        </p:nvSpPr>
        <p:spPr>
          <a:xfrm>
            <a:off x="457200" y="1097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ENFOQUES Y MÉTODOS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457020" y="1397330"/>
            <a:ext cx="4114440" cy="24692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Captura de profundidad mediante Kinect SDK 1.8.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Procesamiento y normalización de mapas de profundidad.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Generación dinámica de mallas en Unity.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Comunicación entre aplicaciones mediante UDP y memoria compartida.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Pruebas de detección de manos y reconocimiento gestual.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4846320" y="822600"/>
            <a:ext cx="3840120" cy="3356746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5029200" y="984949"/>
            <a:ext cx="3474360" cy="5158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HERRAMIENTAS Y TECNOLOGÍAS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5029200" y="1845235"/>
            <a:ext cx="3474360" cy="18964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Kinect </a:t>
            </a:r>
            <a:r>
              <a:rPr lang="es-CO" sz="1600" dirty="0" err="1"/>
              <a:t>for</a:t>
            </a:r>
            <a:r>
              <a:rPr lang="es-CO" sz="1600" dirty="0"/>
              <a:t> Windows v1 (Modelo 1517)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 err="1"/>
              <a:t>ARSandbox</a:t>
            </a:r>
            <a:endParaRPr lang="es-CO" sz="1600" dirty="0"/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Proyector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Computador con Windows 11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Visual Studio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Unity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.NET Framework 4.8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WPF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 err="1"/>
              <a:t>OpenCVSharp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7"/>
          <p:cNvSpPr/>
          <p:nvPr/>
        </p:nvSpPr>
        <p:spPr>
          <a:xfrm>
            <a:off x="457020" y="3978001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PROCEDIMIENTO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457200" y="4179346"/>
            <a:ext cx="8229240" cy="24043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Configuración y puesta en marcha del Kinect.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Captura y procesamiento de datos de profundidad.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Desarrollo de la aplicación WPF.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Comunicación con Unity.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Generación y calibración del terreno virtual.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Integración de objetos interactivos.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Exploración de reconocimiento de manos y gestos. 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600" dirty="0"/>
              <a:t>Optimización mediante memoria compartida.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"/>
          <p:cNvSpPr/>
          <p:nvPr/>
        </p:nvSpPr>
        <p:spPr>
          <a:xfrm>
            <a:off x="182700" y="1375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 err="1">
                <a:solidFill>
                  <a:srgbClr val="E74C3C"/>
                </a:solidFill>
                <a:effectLst/>
                <a:uFillTx/>
                <a:latin typeface="Calibri"/>
              </a:rPr>
              <a:t>Resultados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182700" y="6766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HALLAZGOS PRINCIPALES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7"/>
          <p:cNvSpPr/>
          <p:nvPr/>
        </p:nvSpPr>
        <p:spPr>
          <a:xfrm>
            <a:off x="365760" y="4158423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RESULTADOS CLAVE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411300" y="4866820"/>
            <a:ext cx="7772040" cy="118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r>
              <a:rPr lang="es-CO" sz="1200" b="1" dirty="0"/>
              <a:t>Reconstrucción del terreno: </a:t>
            </a:r>
            <a:r>
              <a:rPr lang="es-CO" sz="1200" dirty="0"/>
              <a:t>Se logró representar en Unity las modificaciones realizadas sobre la arena física en tiempo real.</a:t>
            </a:r>
          </a:p>
          <a:p>
            <a:r>
              <a:rPr lang="es-CO" sz="1200" b="1" dirty="0"/>
              <a:t>Optimización del rendimiento: </a:t>
            </a:r>
            <a:r>
              <a:rPr lang="es-CO" sz="1200" dirty="0"/>
              <a:t>La migración de UDP a memoria compartida redujo considerablemente la latencia observada durante la actualización del terreno.</a:t>
            </a:r>
          </a:p>
          <a:p>
            <a:r>
              <a:rPr lang="es-CO" sz="1200" b="1" dirty="0"/>
              <a:t>Interacción física: </a:t>
            </a:r>
            <a:r>
              <a:rPr lang="es-CO" sz="1200" dirty="0"/>
              <a:t>Los objetos virtuales respondieron correctamente a las deformaciones de la superficie mediante el motor de físicas de Unity.</a:t>
            </a:r>
          </a:p>
          <a:p>
            <a:r>
              <a:rPr lang="es-CO" sz="1200" b="1" dirty="0"/>
              <a:t>Reconocimiento gestual: </a:t>
            </a:r>
            <a:r>
              <a:rPr lang="es-CO" sz="1200" dirty="0"/>
              <a:t>Aunque se exploraron diferentes alternativas, las limitaciones del Kinect v1 impidieron implementar una detección confiable de manos y gestos.</a:t>
            </a:r>
          </a:p>
          <a:p>
            <a:r>
              <a:rPr lang="es-CO" sz="1200" b="1" dirty="0"/>
              <a:t>Aporte principal: </a:t>
            </a:r>
            <a:r>
              <a:rPr lang="es-CO" sz="1200" dirty="0"/>
              <a:t>Se desarrolló una plataforma funcional que integra una </a:t>
            </a:r>
            <a:r>
              <a:rPr lang="es-CO" sz="1200" dirty="0" err="1"/>
              <a:t>ARSandbox</a:t>
            </a:r>
            <a:r>
              <a:rPr lang="es-CO" sz="1200" dirty="0"/>
              <a:t> física con un entorno virtual interactivo, estableciendo una base para futuras investigaciones en realidad aumentada e interfaces naturales de usuario.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AD495247-890B-14B9-4850-C6F5FC300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500905"/>
              </p:ext>
            </p:extLst>
          </p:nvPr>
        </p:nvGraphicFramePr>
        <p:xfrm>
          <a:off x="411118" y="1026799"/>
          <a:ext cx="4069262" cy="301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4631">
                  <a:extLst>
                    <a:ext uri="{9D8B030D-6E8A-4147-A177-3AD203B41FA5}">
                      <a16:colId xmlns:a16="http://schemas.microsoft.com/office/drawing/2014/main" val="4158360716"/>
                    </a:ext>
                  </a:extLst>
                </a:gridCol>
                <a:gridCol w="2034631">
                  <a:extLst>
                    <a:ext uri="{9D8B030D-6E8A-4147-A177-3AD203B41FA5}">
                      <a16:colId xmlns:a16="http://schemas.microsoft.com/office/drawing/2014/main" val="3438678694"/>
                    </a:ext>
                  </a:extLst>
                </a:gridCol>
              </a:tblGrid>
              <a:tr h="2276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Componente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Resultado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354757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Kinect v1 + SDK 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Funcionamiento estable en Windows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543405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Aplicación WPF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Captura y procesamiento de profundidad en tiempo 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317011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Integración con 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Comunicación exitosa entre aplicaciones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494366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Reconstrucción del terreno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Malla dinámica generada correctamente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8327892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Calibración del Sandbox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Correspondencia entre terreno físico y virtual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852316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Objetos interactivos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Cubos y esferas reaccionan a los cambios del terreno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148183"/>
                  </a:ext>
                </a:extLst>
              </a:tr>
              <a:tr h="3793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Memoria compartida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Mejora significativa en la fluidez del sistema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9243527"/>
                  </a:ext>
                </a:extLst>
              </a:tr>
            </a:tbl>
          </a:graphicData>
        </a:graphic>
      </p:graphicFrame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E835454A-5096-0AAD-2C65-DD42CDD1BC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79382"/>
              </p:ext>
            </p:extLst>
          </p:nvPr>
        </p:nvGraphicFramePr>
        <p:xfrm>
          <a:off x="4663622" y="1026799"/>
          <a:ext cx="4210366" cy="30175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05183">
                  <a:extLst>
                    <a:ext uri="{9D8B030D-6E8A-4147-A177-3AD203B41FA5}">
                      <a16:colId xmlns:a16="http://schemas.microsoft.com/office/drawing/2014/main" val="230859998"/>
                    </a:ext>
                  </a:extLst>
                </a:gridCol>
                <a:gridCol w="2105183">
                  <a:extLst>
                    <a:ext uri="{9D8B030D-6E8A-4147-A177-3AD203B41FA5}">
                      <a16:colId xmlns:a16="http://schemas.microsoft.com/office/drawing/2014/main" val="2432054115"/>
                    </a:ext>
                  </a:extLst>
                </a:gridCol>
              </a:tblGrid>
              <a:tr h="418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Aspecto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Dificultad identificada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1532131"/>
                  </a:ext>
                </a:extLst>
              </a:tr>
              <a:tr h="447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Compatibilidad del Kinect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Falta de soporte oficial para Windows 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462743"/>
                  </a:ext>
                </a:extLst>
              </a:tr>
              <a:tr h="418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Integración directa con Unity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Limitado soporte para Kinect v1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802424"/>
                  </a:ext>
                </a:extLst>
              </a:tr>
              <a:tr h="447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Comunicación UDP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Latencia y retrasos en la actualización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125067"/>
                  </a:ext>
                </a:extLst>
              </a:tr>
              <a:tr h="418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Reconocimiento de manos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Baja precisión en la detección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705210"/>
                  </a:ext>
                </a:extLst>
              </a:tr>
              <a:tr h="418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Reconocimiento de gestos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No se obtuvo una solución robusta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8555402"/>
                  </a:ext>
                </a:extLst>
              </a:tr>
              <a:tr h="4474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/>
                        <a:t>Kinect 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000" dirty="0"/>
                        <a:t>Resolución y capacidad limitadas para seguimiento detallado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919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Análisis y Discusión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"/>
          <p:cNvSpPr/>
          <p:nvPr/>
        </p:nvSpPr>
        <p:spPr>
          <a:xfrm>
            <a:off x="457200" y="1097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INTERPRETACIÓN DE RESULTADOS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"/>
          <p:cNvSpPr/>
          <p:nvPr/>
        </p:nvSpPr>
        <p:spPr>
          <a:xfrm>
            <a:off x="457200" y="150876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s-CO" sz="1600" dirty="0"/>
              <a:t>Los resultados obtenidos demuestran que es posible utilizar un Kinect </a:t>
            </a:r>
            <a:r>
              <a:rPr lang="es-CO" sz="1600" dirty="0" err="1"/>
              <a:t>for</a:t>
            </a:r>
            <a:r>
              <a:rPr lang="es-CO" sz="1600" dirty="0"/>
              <a:t> Windows v1 para capturar información de profundidad y reconstruir un terreno virtual interactivo en Unity. La arquitectura basada en una aplicación intermedia en WPF permitió superar limitaciones de compatibilidad y facilitó la integración entre el sensor y el entorno gráfico. Además, la implementación de memoria compartida mejoró significativamente la capacidad de respuesta del sistema frente a la solución inicial basada en UDP.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4"/>
          <p:cNvSpPr/>
          <p:nvPr/>
        </p:nvSpPr>
        <p:spPr>
          <a:xfrm>
            <a:off x="457200" y="31089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COMPARACIÓN CON ESTADO DEL ARTE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5"/>
          <p:cNvSpPr/>
          <p:nvPr/>
        </p:nvSpPr>
        <p:spPr>
          <a:xfrm>
            <a:off x="457200" y="3520440"/>
            <a:ext cx="2559960" cy="3063240"/>
          </a:xfrm>
          <a:prstGeom prst="rect">
            <a:avLst/>
          </a:prstGeom>
          <a:solidFill>
            <a:srgbClr val="F39C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6"/>
          <p:cNvSpPr/>
          <p:nvPr/>
        </p:nvSpPr>
        <p:spPr>
          <a:xfrm>
            <a:off x="548640" y="3611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Calibri"/>
              </a:rPr>
              <a:t>Este </a:t>
            </a:r>
            <a:r>
              <a:rPr lang="en-US" sz="18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</a:rPr>
              <a:t>Trabajo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7"/>
          <p:cNvSpPr/>
          <p:nvPr/>
        </p:nvSpPr>
        <p:spPr>
          <a:xfrm>
            <a:off x="640080" y="4549140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Reconstrucción dinámica del terreno.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Integración Kinect v1 – WPF – Unity.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Optimización mediante memoria compartida.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Objetos virtuales interactivos.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Exploración de reconocimiento gestual.</a:t>
            </a:r>
            <a:endParaRPr lang="es-CO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8"/>
          <p:cNvSpPr/>
          <p:nvPr/>
        </p:nvSpPr>
        <p:spPr>
          <a:xfrm>
            <a:off x="3291840" y="3520440"/>
            <a:ext cx="2559960" cy="2678654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9"/>
          <p:cNvSpPr/>
          <p:nvPr/>
        </p:nvSpPr>
        <p:spPr>
          <a:xfrm>
            <a:off x="3383280" y="3611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3E50"/>
                </a:solidFill>
                <a:effectLst/>
                <a:uFillTx/>
                <a:latin typeface="Calibri"/>
              </a:rPr>
              <a:t>Trabajos Previos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0"/>
          <p:cNvSpPr/>
          <p:nvPr/>
        </p:nvSpPr>
        <p:spPr>
          <a:xfrm>
            <a:off x="3383280" y="4356847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 err="1"/>
              <a:t>ARSandbox</a:t>
            </a:r>
            <a:r>
              <a:rPr lang="es-CO" sz="1400" dirty="0"/>
              <a:t> educativas.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Visualización topográfica.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Integración con sensores de profundidad.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Simulación de fenómenos geográficos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Interfaces naturales de usuario.</a:t>
            </a:r>
            <a:endParaRPr lang="es-CO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11"/>
          <p:cNvSpPr/>
          <p:nvPr/>
        </p:nvSpPr>
        <p:spPr>
          <a:xfrm>
            <a:off x="6126480" y="3520440"/>
            <a:ext cx="2559960" cy="3063240"/>
          </a:xfrm>
          <a:prstGeom prst="rect">
            <a:avLst/>
          </a:prstGeom>
          <a:solidFill>
            <a:srgbClr val="F8F9F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2"/>
          <p:cNvSpPr/>
          <p:nvPr/>
        </p:nvSpPr>
        <p:spPr>
          <a:xfrm>
            <a:off x="6217920" y="361188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Limitaciones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6217920" y="4427132"/>
            <a:ext cx="23770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Baja precisión en detección de manos.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Compatibilidad limitada del Kinect v1.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Latencia inicial con UDP.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Restricciones del hardware utilizado.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Oportunidad de migrar a sensores modernos.</a:t>
            </a:r>
            <a:endParaRPr lang="es-CO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Conclusiones y Trabajos Futuros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457200" y="1097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CONCLUSIONES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551330" y="2001103"/>
            <a:ext cx="77720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Se logró integrar exitosamente una </a:t>
            </a:r>
            <a:r>
              <a:rPr lang="es-CO" sz="1400" dirty="0" err="1"/>
              <a:t>ARSandbox</a:t>
            </a:r>
            <a:r>
              <a:rPr lang="es-CO" sz="1400" dirty="0"/>
              <a:t> física con Unity utilizando datos de profundidad capturados por Kinect v1.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La aplicación desarrollada en WPF permitió superar las limitaciones de compatibilidad entre Kinect SDK 1.8 y Unity.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La reconstrucción dinámica del terreno permitió representar en tiempo real las modificaciones realizadas sobre la arena e interactuar con objetos virtuales.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La migración de UDP a memoria compartida mejoró significativamente el rendimiento y redujo la latencia del sistema.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Las limitaciones del Kinect v1 impidieron implementar un reconocimiento robusto de manos y gestos, identificando oportunidades de mejora para futuras investigaciones.</a:t>
            </a:r>
            <a:endParaRPr lang="es-CO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4"/>
          <p:cNvSpPr/>
          <p:nvPr/>
        </p:nvSpPr>
        <p:spPr>
          <a:xfrm>
            <a:off x="457380" y="4171277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TRABAJOS FUTUROS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"/>
          <p:cNvSpPr/>
          <p:nvPr/>
        </p:nvSpPr>
        <p:spPr>
          <a:xfrm>
            <a:off x="551330" y="4611175"/>
            <a:ext cx="77720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Incorporar sensores más modernos como Kinect v2, Azure Kinect o Intel </a:t>
            </a:r>
            <a:r>
              <a:rPr lang="es-CO" sz="1400" dirty="0" err="1"/>
              <a:t>RealSense</a:t>
            </a:r>
            <a:r>
              <a:rPr lang="es-CO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Implementar reconocimiento de manos y gestos mediante técnicas de visión por computador y aprendizaje automático (</a:t>
            </a:r>
            <a:r>
              <a:rPr lang="es-CO" sz="1400" dirty="0" err="1"/>
              <a:t>MediaPipe</a:t>
            </a:r>
            <a:r>
              <a:rPr lang="es-CO" sz="1400" dirty="0"/>
              <a:t>, redes neuronales, etc.).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Desarrollar nuevas interacciones sobre el terreno, como simulación de agua, erosión y fenómenos naturales.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Optimizar la arquitectura de comunicación e integrar información proveniente de múltiples sensores.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CO" sz="1400" dirty="0"/>
              <a:t>Explorar aplicaciones educativas y de simulación en áreas como geografía, geología e ingeniería.</a:t>
            </a:r>
            <a:endParaRPr lang="es-CO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E74C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s-CO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57200" y="27432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Referencias y Contacto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457200" y="10972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</a:rPr>
              <a:t>REFERENCIAS BIBLIOGRÁFICAS</a:t>
            </a:r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352069" y="2332440"/>
            <a:ext cx="53031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[1] </a:t>
            </a:r>
            <a:r>
              <a:rPr lang="es-CO" sz="1600" dirty="0"/>
              <a:t>Microsoft </a:t>
            </a:r>
            <a:r>
              <a:rPr lang="es-CO" sz="1600" dirty="0" err="1"/>
              <a:t>Corporation</a:t>
            </a:r>
            <a:r>
              <a:rPr lang="es-CO" sz="1600" dirty="0"/>
              <a:t>. (2013). </a:t>
            </a:r>
            <a:r>
              <a:rPr lang="es-CO" sz="1600" i="1" dirty="0"/>
              <a:t>Kinect </a:t>
            </a:r>
            <a:r>
              <a:rPr lang="es-CO" sz="1600" i="1" dirty="0" err="1"/>
              <a:t>for</a:t>
            </a:r>
            <a:r>
              <a:rPr lang="es-CO" sz="1600" i="1" dirty="0"/>
              <a:t> Windows SDK 1.8 </a:t>
            </a:r>
            <a:r>
              <a:rPr lang="es-CO" sz="1600" i="1" dirty="0" err="1"/>
              <a:t>programming</a:t>
            </a:r>
            <a:r>
              <a:rPr lang="es-CO" sz="1600" i="1" dirty="0"/>
              <a:t> guide</a:t>
            </a:r>
            <a:r>
              <a:rPr lang="es-CO" sz="1600" dirty="0"/>
              <a:t>. Microsoft. </a:t>
            </a:r>
            <a:r>
              <a:rPr lang="es-CO" sz="1600" dirty="0">
                <a:hlinkClick r:id="rId3"/>
              </a:rPr>
              <a:t>https://www.microsoft.com/en-us/download/details.aspx?id=40278</a:t>
            </a: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.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[2] </a:t>
            </a:r>
            <a:r>
              <a:rPr lang="es-CO" sz="1600" dirty="0"/>
              <a:t>Microsoft </a:t>
            </a:r>
            <a:r>
              <a:rPr lang="es-CO" sz="1600" dirty="0" err="1"/>
              <a:t>Corporation</a:t>
            </a:r>
            <a:r>
              <a:rPr lang="es-CO" sz="1600" dirty="0"/>
              <a:t>. (2024). </a:t>
            </a:r>
            <a:r>
              <a:rPr lang="es-CO" sz="1600" i="1" dirty="0"/>
              <a:t>Windows </a:t>
            </a:r>
            <a:r>
              <a:rPr lang="es-CO" sz="1600" i="1" dirty="0" err="1"/>
              <a:t>Presentation</a:t>
            </a:r>
            <a:r>
              <a:rPr lang="es-CO" sz="1600" i="1" dirty="0"/>
              <a:t> </a:t>
            </a:r>
            <a:r>
              <a:rPr lang="es-CO" sz="1600" i="1" dirty="0" err="1"/>
              <a:t>Foundation</a:t>
            </a:r>
            <a:r>
              <a:rPr lang="es-CO" sz="1600" i="1" dirty="0"/>
              <a:t> (WPF) </a:t>
            </a:r>
            <a:r>
              <a:rPr lang="es-CO" sz="1600" i="1" dirty="0" err="1"/>
              <a:t>documentation</a:t>
            </a:r>
            <a:r>
              <a:rPr lang="es-CO" sz="1600" dirty="0"/>
              <a:t>. Microsoft Learn. </a:t>
            </a:r>
            <a:r>
              <a:rPr lang="es-CO" sz="1600" dirty="0">
                <a:hlinkClick r:id="rId4"/>
              </a:rPr>
              <a:t>https://learn.microsoft.com/en-us/dotnet/desktop/wpf/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[3] </a:t>
            </a:r>
            <a:r>
              <a:rPr lang="es-CO" sz="1600" dirty="0"/>
              <a:t>Unity Technologies. (2024). </a:t>
            </a:r>
            <a:r>
              <a:rPr lang="es-CO" sz="1600" i="1" dirty="0"/>
              <a:t>Unity Manual</a:t>
            </a:r>
            <a:r>
              <a:rPr lang="es-CO" sz="1600" dirty="0"/>
              <a:t>. </a:t>
            </a:r>
            <a:r>
              <a:rPr lang="es-CO" sz="1600" dirty="0">
                <a:hlinkClick r:id="rId5"/>
              </a:rPr>
              <a:t>https://docs.unity3d.com/</a:t>
            </a: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.</a:t>
            </a:r>
          </a:p>
          <a:p>
            <a:pPr>
              <a:tabLst>
                <a:tab pos="0" algn="l"/>
              </a:tabLst>
            </a:pPr>
            <a:endParaRPr lang="es-CO" sz="1600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600" dirty="0">
                <a:solidFill>
                  <a:srgbClr val="2C3E50"/>
                </a:solidFill>
              </a:rPr>
              <a:t>[4] </a:t>
            </a:r>
            <a:r>
              <a:rPr lang="es-CO" sz="1600" dirty="0" err="1"/>
              <a:t>shimat</a:t>
            </a:r>
            <a:r>
              <a:rPr lang="es-CO" sz="1600" dirty="0"/>
              <a:t>. (2024). </a:t>
            </a:r>
            <a:r>
              <a:rPr lang="es-CO" sz="1600" i="1" dirty="0" err="1"/>
              <a:t>OpenCvSharp</a:t>
            </a:r>
            <a:r>
              <a:rPr lang="es-CO" sz="1600" dirty="0"/>
              <a:t> [Código fuente]. GitHub. </a:t>
            </a:r>
            <a:r>
              <a:rPr lang="es-CO" sz="1600" dirty="0">
                <a:hlinkClick r:id="rId6"/>
              </a:rPr>
              <a:t>https://github.com/shimat/opencvsharp</a:t>
            </a:r>
            <a:endParaRPr lang="es-CO" sz="1600" dirty="0"/>
          </a:p>
          <a:p>
            <a:pPr>
              <a:tabLst>
                <a:tab pos="0" algn="l"/>
              </a:tabLst>
            </a:pPr>
            <a:endParaRPr lang="es-CO" sz="1600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</a:tabLst>
            </a:pPr>
            <a:r>
              <a:rPr lang="en-US" sz="1600" dirty="0"/>
              <a:t>[5] </a:t>
            </a:r>
            <a:r>
              <a:rPr lang="es-CO" sz="1600" dirty="0" err="1"/>
              <a:t>Bradski</a:t>
            </a:r>
            <a:r>
              <a:rPr lang="es-CO" sz="1600" dirty="0"/>
              <a:t>, G. (2000). </a:t>
            </a:r>
            <a:r>
              <a:rPr lang="es-CO" sz="1600" i="1" dirty="0"/>
              <a:t>The </a:t>
            </a:r>
            <a:r>
              <a:rPr lang="es-CO" sz="1600" i="1" dirty="0" err="1"/>
              <a:t>OpenCV</a:t>
            </a:r>
            <a:r>
              <a:rPr lang="es-CO" sz="1600" i="1" dirty="0"/>
              <a:t> Library</a:t>
            </a:r>
            <a:r>
              <a:rPr lang="es-CO" sz="1600" dirty="0"/>
              <a:t>. Dr. </a:t>
            </a:r>
            <a:r>
              <a:rPr lang="es-CO" sz="1600" dirty="0" err="1"/>
              <a:t>Dobb's</a:t>
            </a:r>
            <a:r>
              <a:rPr lang="es-CO" sz="1600" dirty="0"/>
              <a:t> </a:t>
            </a:r>
            <a:r>
              <a:rPr lang="es-CO" sz="1600" dirty="0" err="1"/>
              <a:t>Journal</a:t>
            </a:r>
            <a:r>
              <a:rPr lang="es-CO" sz="1600" dirty="0"/>
              <a:t> </a:t>
            </a:r>
            <a:r>
              <a:rPr lang="es-CO" sz="1600" dirty="0" err="1"/>
              <a:t>of</a:t>
            </a:r>
            <a:r>
              <a:rPr lang="es-CO" sz="1600" dirty="0"/>
              <a:t> Software Tools. </a:t>
            </a:r>
            <a:r>
              <a:rPr lang="es-CO" sz="1600" dirty="0">
                <a:hlinkClick r:id="rId7"/>
              </a:rPr>
              <a:t>https://opencv.org/</a:t>
            </a:r>
            <a:endParaRPr lang="es-CO" sz="1600" dirty="0">
              <a:solidFill>
                <a:srgbClr val="000000"/>
              </a:solidFill>
              <a:latin typeface="Arial"/>
            </a:endParaRPr>
          </a:p>
          <a:p>
            <a:pPr>
              <a:tabLst>
                <a:tab pos="0" algn="l"/>
              </a:tabLst>
            </a:pPr>
            <a:endParaRPr lang="en-US" dirty="0">
              <a:solidFill>
                <a:srgbClr val="2C3E50"/>
              </a:solidFill>
              <a:latin typeface="Calibri"/>
            </a:endParaRPr>
          </a:p>
        </p:txBody>
      </p:sp>
      <p:sp>
        <p:nvSpPr>
          <p:cNvPr id="78" name="Shape 4"/>
          <p:cNvSpPr/>
          <p:nvPr/>
        </p:nvSpPr>
        <p:spPr>
          <a:xfrm>
            <a:off x="5943600" y="274320"/>
            <a:ext cx="2742840" cy="6309360"/>
          </a:xfrm>
          <a:prstGeom prst="rect">
            <a:avLst/>
          </a:prstGeom>
          <a:solidFill>
            <a:srgbClr val="F8F9FA"/>
          </a:solidFill>
          <a:ln w="25400">
            <a:solidFill>
              <a:srgbClr val="F39C1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s-CO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5"/>
          <p:cNvSpPr/>
          <p:nvPr/>
        </p:nvSpPr>
        <p:spPr>
          <a:xfrm>
            <a:off x="6126480" y="603074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 dirty="0">
                <a:solidFill>
                  <a:srgbClr val="E74C3C"/>
                </a:solidFill>
                <a:effectLst/>
                <a:uFillTx/>
                <a:latin typeface="Calibri"/>
              </a:rPr>
              <a:t>CONTACTO</a:t>
            </a:r>
            <a:endParaRPr lang="es-CO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6"/>
          <p:cNvSpPr/>
          <p:nvPr/>
        </p:nvSpPr>
        <p:spPr>
          <a:xfrm>
            <a:off x="6034860" y="548460"/>
            <a:ext cx="2651760" cy="34670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Email: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pos="0" algn="l"/>
              </a:tabLst>
            </a:pPr>
            <a:r>
              <a:rPr lang="en-US" sz="1600" dirty="0">
                <a:solidFill>
                  <a:srgbClr val="2C3E50"/>
                </a:solidFill>
                <a:hlinkClick r:id="rId8"/>
              </a:rPr>
              <a:t>dafsanchezg@udistrital.edu.co</a:t>
            </a:r>
            <a:endParaRPr lang="en-US" sz="1600" dirty="0">
              <a:solidFill>
                <a:srgbClr val="2C3E50"/>
              </a:solidFill>
            </a:endParaRPr>
          </a:p>
          <a:p>
            <a:pPr algn="ctr">
              <a:tabLst>
                <a:tab pos="0" algn="l"/>
              </a:tabLst>
            </a:pPr>
            <a:r>
              <a:rPr lang="en-US" sz="1600" dirty="0">
                <a:solidFill>
                  <a:srgbClr val="2C3E50"/>
                </a:solidFill>
                <a:hlinkClick r:id="rId9"/>
              </a:rPr>
              <a:t>jpsotelor@udistrital.edu.co</a:t>
            </a:r>
            <a:endParaRPr lang="en-US" sz="1600" dirty="0">
              <a:solidFill>
                <a:srgbClr val="2C3E50"/>
              </a:solidFill>
            </a:endParaRPr>
          </a:p>
          <a:p>
            <a:pPr algn="ctr">
              <a:tabLst>
                <a:tab pos="0" algn="l"/>
              </a:tabLst>
            </a:pPr>
            <a:endParaRPr lang="es-CO" sz="1600" dirty="0">
              <a:solidFill>
                <a:srgbClr val="2C3E50"/>
              </a:solidFill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2C3E50"/>
                </a:solidFill>
                <a:effectLst/>
                <a:uFillTx/>
                <a:latin typeface="Calibri"/>
              </a:rPr>
              <a:t>Repositorio</a:t>
            </a: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: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tabLst>
                <a:tab pos="0" algn="l"/>
              </a:tabLst>
            </a:pPr>
            <a:r>
              <a:rPr lang="en-US" sz="1600" dirty="0">
                <a:solidFill>
                  <a:srgbClr val="2C3E50"/>
                </a:solidFill>
                <a:hlinkClick r:id="rId10"/>
              </a:rPr>
              <a:t>https://github.com/JuanSotelo9/ARSanbox_KinectV1.git</a:t>
            </a:r>
            <a:endParaRPr lang="en-US" sz="1600" dirty="0">
              <a:solidFill>
                <a:srgbClr val="2C3E50"/>
              </a:solidFill>
            </a:endParaRPr>
          </a:p>
          <a:p>
            <a:pPr algn="ctr">
              <a:tabLst>
                <a:tab pos="0" algn="l"/>
              </a:tabLst>
            </a:pP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2C3E50"/>
                </a:solidFill>
                <a:effectLst/>
                <a:uFillTx/>
                <a:latin typeface="Calibri"/>
              </a:rPr>
              <a:t>Grupo Multimedia </a:t>
            </a:r>
            <a:r>
              <a:rPr lang="en-US" sz="1600" b="0" u="none" strike="noStrike" dirty="0" err="1">
                <a:solidFill>
                  <a:srgbClr val="2C3E50"/>
                </a:solidFill>
                <a:effectLst/>
                <a:uFillTx/>
                <a:latin typeface="Calibri"/>
              </a:rPr>
              <a:t>Interactiva</a:t>
            </a:r>
            <a:endParaRPr lang="es-CO" sz="16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93BD5D1-F246-A621-0BAA-E57086324A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0760" y="3988938"/>
            <a:ext cx="2468519" cy="24685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</TotalTime>
  <Words>1473</Words>
  <Application>Microsoft Office PowerPoint</Application>
  <PresentationFormat>Presentación en pantalla (4:3)</PresentationFormat>
  <Paragraphs>160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Symbol</vt:lpstr>
      <vt:lpstr>Times New Roman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dc:description/>
  <cp:lastModifiedBy>Juan Pablo Sotelo</cp:lastModifiedBy>
  <cp:revision>5</cp:revision>
  <dcterms:created xsi:type="dcterms:W3CDTF">2026-05-19T00:52:12Z</dcterms:created>
  <dcterms:modified xsi:type="dcterms:W3CDTF">2026-06-06T16:36:56Z</dcterms:modified>
  <dc:language>es-CO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